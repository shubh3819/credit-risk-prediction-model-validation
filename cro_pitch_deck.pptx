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1D3CD"/>
                </a:solidFill>
                <a:latin typeface="Aptos"/>
              </a:defRPr>
            </a:pPr>
            <a:r>
              <a:t>CREDIT RISK PORTFOLIO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fragmented data to</a:t>
            </a:r>
            <a:br/>
            <a:r>
              <a:t>risk-aware portfolio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EE7EE"/>
                </a:solidFill>
                <a:latin typeface="Aptos"/>
              </a:defRPr>
            </a:pPr>
            <a:r>
              <a:t>A decision-support prototype for portfolio monitoring, model evaluation and anomaly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C6D3"/>
                </a:solidFill>
                <a:latin typeface="Aptos"/>
              </a:defRPr>
            </a:pPr>
            <a:r>
              <a:rPr dirty="0"/>
              <a:t>Briefing   |  10 minutes  |  Synthetic-data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The decision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1:00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B3640"/>
                </a:solidFill>
                <a:latin typeface="Aptos"/>
              </a:defRPr>
            </a:pPr>
            <a:r>
              <a:t>•  Portfolio evidence is spread across customers, loan accounts, bureau history, repayments and collections.</a:t>
            </a:r>
          </a:p>
          <a:p>
            <a:pPr>
              <a:spcAft>
                <a:spcPts val="1100"/>
              </a:spcAft>
              <a:defRPr sz="2000">
                <a:solidFill>
                  <a:srgbClr val="2B3640"/>
                </a:solidFill>
                <a:latin typeface="Aptos"/>
              </a:defRPr>
            </a:pPr>
            <a:r>
              <a:t>•  Risk leaders need a consistent view of concentrations, data quality and model performance.</a:t>
            </a:r>
          </a:p>
          <a:p>
            <a:pPr>
              <a:spcAft>
                <a:spcPts val="1100"/>
              </a:spcAft>
              <a:defRPr sz="2000">
                <a:solidFill>
                  <a:srgbClr val="2B3640"/>
                </a:solidFill>
                <a:latin typeface="Aptos"/>
              </a:defRPr>
            </a:pPr>
            <a:r>
              <a:t>•  Analysts need to prioritize unusual profiles without treating an alert as proof of default or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4206240" cy="338328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9202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Prototype data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56032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3640"/>
                </a:solidFill>
                <a:latin typeface="Aptos"/>
              </a:defRPr>
            </a:pPr>
            <a:r>
              <a:t>10,000 customers</a:t>
            </a:r>
            <a:br/>
            <a:r>
              <a:t>~14,685 loan accounts</a:t>
            </a:r>
            <a:br/>
            <a:r>
              <a:t>~22,979 bureau records</a:t>
            </a:r>
            <a:br/>
            <a:r>
              <a:t>~176,220 repayment records</a:t>
            </a:r>
            <a:br/>
            <a:r>
              <a:t>8,635 collections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What the prototype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160020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Portfolio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B3640"/>
                </a:solidFill>
                <a:latin typeface="Aptos"/>
              </a:defRPr>
            </a:pPr>
            <a:r>
              <a:t>Interactive KPIs and segment cuts across available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166360" cy="160020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7335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B3640"/>
                </a:solidFill>
                <a:latin typeface="Aptos"/>
              </a:defRPr>
            </a:pPr>
            <a:r>
              <a:t>Logistic Regression and XGBoost benchmarks with discrimination and threshold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166360" cy="160020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Anomaly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B3640"/>
                </a:solidFill>
                <a:latin typeface="Aptos"/>
              </a:defRPr>
            </a:pPr>
            <a:r>
              <a:t>Isolation Forest flags unusual origination/profile combinations for human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5166360" cy="160020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730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Ask the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60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B3640"/>
                </a:solidFill>
                <a:latin typeface="Aptos"/>
              </a:defRPr>
            </a:pPr>
            <a:r>
              <a:t>Local Ollama assistant explains results computed by allow-listed Python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Preliminary model readout — not a deployment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1:30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37744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24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B3640"/>
                </a:solidFill>
                <a:latin typeface="Aptos"/>
              </a:defRPr>
            </a:pPr>
            <a:r>
              <a:t>AUC 0.660</a:t>
            </a:r>
            <a:br/>
            <a:r>
              <a:t>KS 0.2457  |  Gini 0.3199</a:t>
            </a:r>
            <a:br/>
            <a:r>
              <a:t>Brier 0.2256</a:t>
            </a:r>
            <a:br/>
            <a:r>
              <a:t>Recall 57.72% / Precision 24.64% at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212080" cy="237744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24D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B3640"/>
                </a:solidFill>
                <a:latin typeface="Aptos"/>
              </a:defRPr>
            </a:pPr>
            <a:r>
              <a:t>AUC 0.655</a:t>
            </a:r>
            <a:br/>
            <a:r>
              <a:t>KS 0.2453  |  Gini 0.3099</a:t>
            </a:r>
            <a:br/>
            <a:r>
              <a:t>Brier 0.1291</a:t>
            </a:r>
            <a:br/>
            <a:r>
              <a:t>Recall 3.38% / Precision 50% at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B3640"/>
                </a:solidFill>
                <a:latin typeface="Aptos"/>
              </a:defRPr>
            </a:pPr>
            <a:r>
              <a:t>•  AUC is similar; threshold behaviour differs sharply. Thresholds must reflect the bank's cost of missed risk vs. review workload.</a:t>
            </a:r>
          </a:p>
          <a:p>
            <a:pPr>
              <a:spcAft>
                <a:spcPts val="1100"/>
              </a:spcAft>
              <a:defRPr sz="1600">
                <a:solidFill>
                  <a:srgbClr val="2B3640"/>
                </a:solidFill>
                <a:latin typeface="Aptos"/>
              </a:defRPr>
            </a:pPr>
            <a:r>
              <a:t>•  Possible post-origination leakage remains a key risk; validate with a leakage-safe, time-based holdout before interpreting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Portfolio insights: turn dashboard findings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24D"/>
                </a:solidFill>
                <a:latin typeface="Aptos"/>
              </a:defRPr>
            </a:pPr>
            <a:r>
              <a:t>Use validated dashboard cuts to answer three CRO questions: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Where is exposure concentrated? Compare outstanding balance / account counts by product, risk band and customer segment where fields support it.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Where are early warning signals rising? Review matured repayment and collections indicators separately from origination-time predictors.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Which exceptions deserve review? Rank anomaly flags by materiality and explainable profile differences; sample both flagged and unflagged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Risk, compliance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1:30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No automated approve/decline, pricing or customer action: scores and anomaly flags are decision support only.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Data lineage and target timing must be documented; repayment features from months 1–3 may leak future information for an origination use case.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Independent validation required: out-of-time performance, calibration, segment stability, fairness/proxy review and explainability.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Protect customer data with least-privilege access, masking, encryption, audit logs, retention controls and secrets management.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AI assistant may explain only verified calculations; users must verify outputs. Do not send sensitive data to an unapproved model endpoint.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4039"/>
                </a:solidFill>
                <a:latin typeface="Aptos"/>
              </a:defRPr>
            </a:pPr>
            <a:r>
              <a:t>Governance principle: alerts trigger investigation, never automatic adverse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Operating model after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E7A"/>
                </a:solidFill>
                <a:latin typeface="Aptos"/>
              </a:defRPr>
            </a:pPr>
            <a:r>
              <a:t>CRO BRIEFING  •  1:00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2860"/>
          </a:xfrm>
          <a:prstGeom prst="rect">
            <a:avLst/>
          </a:prstGeom>
          <a:solidFill>
            <a:srgbClr val="1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E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Monthly: data-quality checks, PSI/CSI, score distribution and segment mix.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When labels mature: AUC, KS, Gini, precision/recall, calibration and realized bad rates.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Initial quarterly retraining review; earlier only after material drift or sustained degradation.</a:t>
            </a:r>
          </a:p>
          <a:p>
            <a:pPr>
              <a:spcAft>
                <a:spcPts val="1100"/>
              </a:spcAft>
              <a:defRPr sz="1700">
                <a:solidFill>
                  <a:srgbClr val="2B3640"/>
                </a:solidFill>
                <a:latin typeface="Aptos"/>
              </a:defRPr>
            </a:pPr>
            <a:r>
              <a:t>•  Version datasets, features, model, thresholds and approvals; retain rollback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389120" cy="3291840"/>
          </a:xfrm>
          <a:prstGeom prst="roundRect">
            <a:avLst/>
          </a:prstGeom>
          <a:solidFill>
            <a:srgbClr val="EFF4F8"/>
          </a:solidFill>
          <a:ln>
            <a:solidFill>
              <a:srgbClr val="2C5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Proposed drift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146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B3640"/>
                </a:solidFill>
                <a:latin typeface="Aptos"/>
              </a:defRPr>
            </a:pPr>
            <a:r>
              <a:t>PSI &gt; 0.10: investigate</a:t>
            </a:r>
            <a:br/>
            <a:r>
              <a:t>PSI &gt; 0.25: material shift review</a:t>
            </a:r>
            <a:br/>
            <a:r>
              <a:t>Thresholds must be bank-approved</a:t>
            </a:r>
            <a:br/>
            <a:r>
              <a:t>Retrain only after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RECOMMENDATION &amp; DECISION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91D3CD"/>
                </a:solidFill>
                <a:latin typeface="Aptos"/>
              </a:defRPr>
            </a:pPr>
            <a:r>
              <a:t>Approve a controlled discovery / shadow-mode pilot — not production credit decisioning.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Name business, data, IT, model-risk and compliance owners.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Confirm target definition, scoring point, source lineage and data access.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Agree validation design, monitoring thresholds, security controls and human-review workflow.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Return with leakage-safe performance results and 3–5 quantified, bank-validated portfolio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Success means a traceable risk workflow that improves analyst focus while preserving governance and accountability.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Subhrangshu Chatterjee</cp:lastModifiedBy>
  <cp:revision>2</cp:revision>
  <dcterms:created xsi:type="dcterms:W3CDTF">2013-01-27T09:14:16Z</dcterms:created>
  <dcterms:modified xsi:type="dcterms:W3CDTF">2026-10-26T20:44:27Z</dcterms:modified>
  <cp:category/>
</cp:coreProperties>
</file>